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172A"/>
                </a:solidFill>
              </a:rPr>
              <a:t>最近 30 天逐小时负荷（日周期清晰）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负荷 (MW)</c:v>
                </c:pt>
              </c:strCache>
            </c:strRef>
          </c:tx>
          <c:spPr>
            <a:ln w="25400">
              <a:solidFill>
                <a:srgbClr val="2563EB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09-03 16:00</c:v>
                </c:pt>
                <c:pt idx="1">
                  <c:v>09-04 16:00</c:v>
                </c:pt>
                <c:pt idx="2">
                  <c:v>09-05 16:00</c:v>
                </c:pt>
                <c:pt idx="3">
                  <c:v>09-06 16:00</c:v>
                </c:pt>
                <c:pt idx="4">
                  <c:v>09-07 16:00</c:v>
                </c:pt>
                <c:pt idx="5">
                  <c:v>09-08 16:00</c:v>
                </c:pt>
                <c:pt idx="6">
                  <c:v>09-09 16:00</c:v>
                </c:pt>
                <c:pt idx="7">
                  <c:v>09-10 16:00</c:v>
                </c:pt>
                <c:pt idx="8">
                  <c:v>09-11 16:00</c:v>
                </c:pt>
                <c:pt idx="9">
                  <c:v>09-12 16:00</c:v>
                </c:pt>
                <c:pt idx="10">
                  <c:v>09-13 16:00</c:v>
                </c:pt>
                <c:pt idx="11">
                  <c:v>09-14 16:00</c:v>
                </c:pt>
                <c:pt idx="12">
                  <c:v>09-15 16:00</c:v>
                </c:pt>
                <c:pt idx="13">
                  <c:v>09-16 16:00</c:v>
                </c:pt>
                <c:pt idx="14">
                  <c:v>09-17 16:00</c:v>
                </c:pt>
                <c:pt idx="15">
                  <c:v>09-18 16:00</c:v>
                </c:pt>
                <c:pt idx="16">
                  <c:v>09-19 16:00</c:v>
                </c:pt>
                <c:pt idx="17">
                  <c:v>09-20 16:00</c:v>
                </c:pt>
                <c:pt idx="18">
                  <c:v>09-21 16:00</c:v>
                </c:pt>
                <c:pt idx="19">
                  <c:v>09-22 16:00</c:v>
                </c:pt>
                <c:pt idx="20">
                  <c:v>09-23 16:00</c:v>
                </c:pt>
                <c:pt idx="21">
                  <c:v>09-24 16:00</c:v>
                </c:pt>
                <c:pt idx="22">
                  <c:v>09-25 16:00</c:v>
                </c:pt>
                <c:pt idx="23">
                  <c:v>09-26 16:00</c:v>
                </c:pt>
                <c:pt idx="24">
                  <c:v>09-27 16:00</c:v>
                </c:pt>
                <c:pt idx="25">
                  <c:v>09-28 16:00</c:v>
                </c:pt>
                <c:pt idx="26">
                  <c:v>09-29 16:00</c:v>
                </c:pt>
                <c:pt idx="27">
                  <c:v>09-30 16:00</c:v>
                </c:pt>
                <c:pt idx="28">
                  <c:v>10-01 16:00</c:v>
                </c:pt>
                <c:pt idx="29">
                  <c:v>10-02 16:00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629978</c:v>
                </c:pt>
                <c:pt idx="1">
                  <c:v>628532</c:v>
                </c:pt>
                <c:pt idx="2">
                  <c:v>575987</c:v>
                </c:pt>
                <c:pt idx="3">
                  <c:v>538510</c:v>
                </c:pt>
                <c:pt idx="4">
                  <c:v>525212</c:v>
                </c:pt>
                <c:pt idx="5">
                  <c:v>579450</c:v>
                </c:pt>
                <c:pt idx="6">
                  <c:v>600398</c:v>
                </c:pt>
                <c:pt idx="7">
                  <c:v>599915</c:v>
                </c:pt>
                <c:pt idx="8">
                  <c:v>579363</c:v>
                </c:pt>
                <c:pt idx="9">
                  <c:v>540403</c:v>
                </c:pt>
                <c:pt idx="10">
                  <c:v>541143</c:v>
                </c:pt>
                <c:pt idx="11">
                  <c:v>568349</c:v>
                </c:pt>
                <c:pt idx="12">
                  <c:v>556804</c:v>
                </c:pt>
                <c:pt idx="13">
                  <c:v>564759</c:v>
                </c:pt>
                <c:pt idx="14">
                  <c:v>578309</c:v>
                </c:pt>
                <c:pt idx="15">
                  <c:v>575482</c:v>
                </c:pt>
                <c:pt idx="16">
                  <c:v>518974</c:v>
                </c:pt>
                <c:pt idx="17">
                  <c:v>511861</c:v>
                </c:pt>
                <c:pt idx="18">
                  <c:v>538589</c:v>
                </c:pt>
                <c:pt idx="19">
                  <c:v>517493</c:v>
                </c:pt>
                <c:pt idx="20">
                  <c:v>501434</c:v>
                </c:pt>
                <c:pt idx="21">
                  <c:v>494444</c:v>
                </c:pt>
                <c:pt idx="22">
                  <c:v>483786</c:v>
                </c:pt>
                <c:pt idx="23">
                  <c:v>453847</c:v>
                </c:pt>
                <c:pt idx="24">
                  <c:v>447307</c:v>
                </c:pt>
                <c:pt idx="25">
                  <c:v>494918</c:v>
                </c:pt>
                <c:pt idx="26">
                  <c:v>495478</c:v>
                </c:pt>
                <c:pt idx="27">
                  <c:v>508798</c:v>
                </c:pt>
                <c:pt idx="28">
                  <c:v>519011</c:v>
                </c:pt>
                <c:pt idx="29">
                  <c:v>516304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34137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172A"/>
                </a:solidFill>
              </a:rPr>
              <a:t>MAE 对比（越低越好）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(MW)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6B7280"/>
              </a:solidFill>
            </c:spPr>
          </c:dPt>
          <c:cat>
            <c:strRef>
              <c:f>Sheet1!$A$2:$A$3</c:f>
              <c:strCache>
                <c:ptCount val="2"/>
                <c:pt idx="0">
                  <c:v>模型 MAE</c:v>
                </c:pt>
                <c:pt idx="1">
                  <c:v>基线 MAE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2357</c:v>
                </c:pt>
                <c:pt idx="1">
                  <c:v>59839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 (MW)</c:v>
                </c:pt>
              </c:strCache>
            </c:strRef>
          </c:tx>
          <c:spPr>
            <a:ln w="25400">
              <a:solidFill>
                <a:srgbClr val="16A34A"/>
              </a:solidFill>
            </a:ln>
          </c:spPr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650908</c:v>
                </c:pt>
                <c:pt idx="1">
                  <c:v>671995</c:v>
                </c:pt>
                <c:pt idx="2">
                  <c:v>688862</c:v>
                </c:pt>
                <c:pt idx="3">
                  <c:v>700764</c:v>
                </c:pt>
                <c:pt idx="4">
                  <c:v>703180</c:v>
                </c:pt>
                <c:pt idx="5">
                  <c:v>693584</c:v>
                </c:pt>
                <c:pt idx="6">
                  <c:v>679059</c:v>
                </c:pt>
                <c:pt idx="7">
                  <c:v>653554</c:v>
                </c:pt>
                <c:pt idx="8">
                  <c:v>618230</c:v>
                </c:pt>
                <c:pt idx="9">
                  <c:v>582194</c:v>
                </c:pt>
                <c:pt idx="10">
                  <c:v>549350</c:v>
                </c:pt>
                <c:pt idx="11">
                  <c:v>520375</c:v>
                </c:pt>
                <c:pt idx="12">
                  <c:v>495742</c:v>
                </c:pt>
                <c:pt idx="13">
                  <c:v>479039</c:v>
                </c:pt>
                <c:pt idx="14">
                  <c:v>471360</c:v>
                </c:pt>
                <c:pt idx="15">
                  <c:v>469885</c:v>
                </c:pt>
                <c:pt idx="16">
                  <c:v>482716</c:v>
                </c:pt>
                <c:pt idx="17">
                  <c:v>495974</c:v>
                </c:pt>
                <c:pt idx="18">
                  <c:v>508294</c:v>
                </c:pt>
                <c:pt idx="19">
                  <c:v>526457</c:v>
                </c:pt>
                <c:pt idx="20">
                  <c:v>556128</c:v>
                </c:pt>
                <c:pt idx="21">
                  <c:v>589976</c:v>
                </c:pt>
                <c:pt idx="22">
                  <c:v>621232</c:v>
                </c:pt>
                <c:pt idx="23">
                  <c:v>647543</c:v>
                </c:pt>
                <c:pt idx="24">
                  <c:v>669730</c:v>
                </c:pt>
                <c:pt idx="25">
                  <c:v>688343</c:v>
                </c:pt>
                <c:pt idx="26">
                  <c:v>704579</c:v>
                </c:pt>
                <c:pt idx="27">
                  <c:v>714011</c:v>
                </c:pt>
                <c:pt idx="28">
                  <c:v>712418</c:v>
                </c:pt>
                <c:pt idx="29">
                  <c:v>700592</c:v>
                </c:pt>
                <c:pt idx="30">
                  <c:v>683500</c:v>
                </c:pt>
                <c:pt idx="31">
                  <c:v>658592</c:v>
                </c:pt>
                <c:pt idx="32">
                  <c:v>624461</c:v>
                </c:pt>
                <c:pt idx="33">
                  <c:v>588498</c:v>
                </c:pt>
                <c:pt idx="34">
                  <c:v>557196</c:v>
                </c:pt>
                <c:pt idx="35">
                  <c:v>530392</c:v>
                </c:pt>
                <c:pt idx="36">
                  <c:v>507238</c:v>
                </c:pt>
                <c:pt idx="37">
                  <c:v>490747</c:v>
                </c:pt>
                <c:pt idx="38">
                  <c:v>482071</c:v>
                </c:pt>
                <c:pt idx="39">
                  <c:v>482684</c:v>
                </c:pt>
                <c:pt idx="40">
                  <c:v>494716</c:v>
                </c:pt>
                <c:pt idx="41">
                  <c:v>508095</c:v>
                </c:pt>
                <c:pt idx="42">
                  <c:v>522828</c:v>
                </c:pt>
                <c:pt idx="43">
                  <c:v>541913</c:v>
                </c:pt>
                <c:pt idx="44">
                  <c:v>566323</c:v>
                </c:pt>
                <c:pt idx="45">
                  <c:v>594701</c:v>
                </c:pt>
                <c:pt idx="46">
                  <c:v>626560</c:v>
                </c:pt>
                <c:pt idx="47">
                  <c:v>652380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(MW)</c:v>
                </c:pt>
              </c:strCache>
            </c:strRef>
          </c:tx>
          <c:spPr>
            <a:ln w="25400">
              <a:solidFill>
                <a:srgbClr val="DC2626"/>
              </a:solidFill>
            </a:ln>
          </c:spPr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</c:strCache>
            </c: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652533</c:v>
                </c:pt>
                <c:pt idx="1">
                  <c:v>669030</c:v>
                </c:pt>
                <c:pt idx="2">
                  <c:v>687458</c:v>
                </c:pt>
                <c:pt idx="3">
                  <c:v>698874</c:v>
                </c:pt>
                <c:pt idx="4">
                  <c:v>705141</c:v>
                </c:pt>
                <c:pt idx="5">
                  <c:v>695226</c:v>
                </c:pt>
                <c:pt idx="6">
                  <c:v>674916</c:v>
                </c:pt>
                <c:pt idx="7">
                  <c:v>657875</c:v>
                </c:pt>
                <c:pt idx="8">
                  <c:v>622862</c:v>
                </c:pt>
                <c:pt idx="9">
                  <c:v>581172</c:v>
                </c:pt>
                <c:pt idx="10">
                  <c:v>548359</c:v>
                </c:pt>
                <c:pt idx="11">
                  <c:v>521086</c:v>
                </c:pt>
                <c:pt idx="12">
                  <c:v>497582</c:v>
                </c:pt>
                <c:pt idx="13">
                  <c:v>478655</c:v>
                </c:pt>
                <c:pt idx="14">
                  <c:v>470975</c:v>
                </c:pt>
                <c:pt idx="15">
                  <c:v>472350</c:v>
                </c:pt>
                <c:pt idx="16">
                  <c:v>476492</c:v>
                </c:pt>
                <c:pt idx="17">
                  <c:v>502985</c:v>
                </c:pt>
                <c:pt idx="18">
                  <c:v>513781</c:v>
                </c:pt>
                <c:pt idx="19">
                  <c:v>524971</c:v>
                </c:pt>
                <c:pt idx="20">
                  <c:v>549040</c:v>
                </c:pt>
                <c:pt idx="21">
                  <c:v>588404</c:v>
                </c:pt>
                <c:pt idx="22">
                  <c:v>622732</c:v>
                </c:pt>
                <c:pt idx="23">
                  <c:v>648779</c:v>
                </c:pt>
                <c:pt idx="24">
                  <c:v>668850</c:v>
                </c:pt>
                <c:pt idx="25">
                  <c:v>686255</c:v>
                </c:pt>
                <c:pt idx="26">
                  <c:v>700598</c:v>
                </c:pt>
                <c:pt idx="27">
                  <c:v>713718</c:v>
                </c:pt>
                <c:pt idx="28">
                  <c:v>715442</c:v>
                </c:pt>
                <c:pt idx="29">
                  <c:v>700549</c:v>
                </c:pt>
                <c:pt idx="30">
                  <c:v>680318</c:v>
                </c:pt>
                <c:pt idx="31">
                  <c:v>660180</c:v>
                </c:pt>
                <c:pt idx="32">
                  <c:v>629101</c:v>
                </c:pt>
                <c:pt idx="33">
                  <c:v>588551</c:v>
                </c:pt>
                <c:pt idx="34">
                  <c:v>554511</c:v>
                </c:pt>
                <c:pt idx="35">
                  <c:v>530410</c:v>
                </c:pt>
                <c:pt idx="36">
                  <c:v>509260</c:v>
                </c:pt>
                <c:pt idx="37">
                  <c:v>490852</c:v>
                </c:pt>
                <c:pt idx="38">
                  <c:v>482172</c:v>
                </c:pt>
                <c:pt idx="39">
                  <c:v>481585</c:v>
                </c:pt>
                <c:pt idx="40">
                  <c:v>491174</c:v>
                </c:pt>
                <c:pt idx="41">
                  <c:v>513335</c:v>
                </c:pt>
                <c:pt idx="42">
                  <c:v>525755</c:v>
                </c:pt>
                <c:pt idx="43">
                  <c:v>541420</c:v>
                </c:pt>
                <c:pt idx="44">
                  <c:v>564377</c:v>
                </c:pt>
                <c:pt idx="45">
                  <c:v>592686</c:v>
                </c:pt>
                <c:pt idx="46">
                  <c:v>622922</c:v>
                </c:pt>
                <c:pt idx="47">
                  <c:v>655916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Microsoft YaHei"/>
              </a:rPr>
              <a:t>2026 江苏省 AI+科学与工程创新实践黑客松（高校组）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icrosoft YaHei"/>
              </a:rPr>
              <a:t>Grid Load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93C5FD"/>
                </a:solidFill>
                <a:latin typeface="Microsoft YaHei"/>
              </a:rPr>
              <a:t>电力负荷预测与异常检测 · AGH 智能体完整闭环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环境能源 × 数据科学 × 智能体工程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基于 Agnes Harness（AGH） · 模型调用仅限 Agnes · 可复现可验证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10515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PROBLEM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问题与价值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21031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真实问题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电网短期负荷预测（T+24h）是电力调度的核心任务，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直接关系发电计划、成本与安全。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实际负荷序列常含缺失、传感器跳变、漂移，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自动检测 + 归因是调度侧真实痛点。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21031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本作品做什么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用 AGH 把“预测 + 异常”做成一条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可复现、可验证的闭环，而非孤立模型：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规划 → 调用 → 反馈 → 验证 → 异常处理。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11064240" cy="228600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16A34A"/>
                </a:solidFill>
                <a:latin typeface="Microsoft YaHei"/>
              </a:rPr>
              <a:t>为什么值得做（问题价值 × 学科融合）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环境能源（电网调度）× 数据科学（时序预测）× 智能体工程（Agent 闭环）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异常检测闭环 = 多数队伍只做 happy path，我们做到全异常分支 + 自动验证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公开数据完成验证，符合赛题“无硬件可用公开数据”之规定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技术方案总览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AGH 运行底座 + 7 个可执行工具 + 三级模型降级 + 异常注入闭环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536192" cy="14173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① fetch_data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72A"/>
                </a:solidFill>
                <a:latin typeface="Microsoft YaHei"/>
              </a:rPr>
              <a:t>数据获取·重试·缓存降级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2148840"/>
            <a:ext cx="1536192" cy="14173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② clean_df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72A"/>
                </a:solidFill>
                <a:latin typeface="Microsoft YaHei"/>
              </a:rPr>
              <a:t>缺失插补·跳变标记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3904" y="2148840"/>
            <a:ext cx="1536192" cy="14173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③ build_features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72A"/>
                </a:solidFill>
                <a:latin typeface="Microsoft YaHei"/>
              </a:rPr>
              <a:t>时间/滞后/滚动特征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31536" y="2148840"/>
            <a:ext cx="1536192" cy="14173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④ train_predictor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72A"/>
                </a:solidFill>
                <a:latin typeface="Microsoft YaHei"/>
              </a:rPr>
              <a:t>LightGBM 三级降级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2148840"/>
            <a:ext cx="1536192" cy="14173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⑤ backtest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72A"/>
                </a:solidFill>
                <a:latin typeface="Microsoft YaHei"/>
              </a:rPr>
              <a:t>滑窗回测·基线对照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148840"/>
            <a:ext cx="1536192" cy="14173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⑥ detect_anomaly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72A"/>
                </a:solidFill>
                <a:latin typeface="Microsoft YaHei"/>
              </a:rPr>
              <a:t>z-score 尖峰·归因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14432" y="2148840"/>
            <a:ext cx="1536192" cy="141732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 b="1">
                <a:solidFill>
                  <a:srgbClr val="F59E0B"/>
                </a:solidFill>
                <a:latin typeface="Microsoft YaHei"/>
              </a:rPr>
              <a:t>⑦ verify_report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F172A"/>
                </a:solidFill>
                <a:latin typeface="Microsoft YaHei"/>
              </a:rPr>
              <a:t>阈值判定·HTML 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11064240" cy="214884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F59E0B"/>
                </a:solidFill>
                <a:latin typeface="Microsoft YaHei"/>
              </a:rPr>
              <a:t>三级模型降级链（不收敛自动换模型）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LightGBM（主）  →  HistGradientBoosting（降级）  →  纯 numpy Ridge（兜底）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Microsoft YaHei"/>
              </a:rPr>
              <a:t>每级失败自动降采样 + 切换，并记录回退日志，保证无 ML 包也能跑通闭环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CLOSED-LOOP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AGH 智能执行闭环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73736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1. 任务规划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13432" y="2359152"/>
            <a:ext cx="539495" cy="219456"/>
          </a:xfrm>
          <a:prstGeom prst="rightArrow">
            <a:avLst/>
          </a:prstGeom>
          <a:solidFill>
            <a:srgbClr val="D6DEEA"/>
          </a:solidFill>
          <a:ln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173736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2. 工具调用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45152" y="2359152"/>
            <a:ext cx="539495" cy="219456"/>
          </a:xfrm>
          <a:prstGeom prst="rightArrow">
            <a:avLst/>
          </a:prstGeom>
          <a:solidFill>
            <a:srgbClr val="D6DEEA"/>
          </a:solidFill>
          <a:ln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79" y="2011680"/>
            <a:ext cx="173736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3. 执行反馈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76872" y="2359152"/>
            <a:ext cx="539495" cy="219456"/>
          </a:xfrm>
          <a:prstGeom prst="rightArrow">
            <a:avLst/>
          </a:prstGeom>
          <a:solidFill>
            <a:srgbClr val="D6DEEA"/>
          </a:solidFill>
          <a:ln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2011680"/>
            <a:ext cx="1737360" cy="9144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4. 结果验证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08592" y="2359152"/>
            <a:ext cx="539495" cy="219456"/>
          </a:xfrm>
          <a:prstGeom prst="rightArrow">
            <a:avLst/>
          </a:prstGeom>
          <a:solidFill>
            <a:srgbClr val="D6DEEA"/>
          </a:solidFill>
          <a:ln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19" y="2011680"/>
            <a:ext cx="173736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5. 异常处理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Microsoft YaHei"/>
              </a:rPr>
              <a:t>异常处理 → 回退到任务规划（换策略 / 重训 / 降级数据源），全程留痕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Microsoft YaHei"/>
              </a:rPr>
              <a:t>• AGH 输出结构化计划：每步绑定工具 + 输入 + 失败分支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Microsoft YaHei"/>
              </a:rPr>
              <a:t>• 7 个工具均为可执行函数，非描述；返回结构化结果 + 异常码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Microsoft YaHei"/>
              </a:rPr>
              <a:t>• 每步返回数值指标 + 日志，AGH 读反馈决定继续 / 换路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Microsoft YaHei"/>
              </a:rPr>
              <a:t>• 自动对照朴素基线 + 自适应阈值 → 通过 / 未通过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Microsoft YaHei"/>
              </a:rPr>
              <a:t>• 数据缺失 / 跳变 / 模型不收敛 / 回测不达标 / 接口超时，五类异常分支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数据：公开电网负荷序列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029200" cy="448056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数据源与口径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来源：EIA 公开小时序列（US48 总需求代理）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样本：5000 小时（2026-03-09 → 2026-10-03）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量级：359346 ~ 753630 MW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特征：日周期 + 季节趋势 + 噪声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合规：公开数据完成验证，无需硬件 / 远程设备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852160" y="1554480"/>
          <a:ext cx="5806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MODEL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特征工程与预测模型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448056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19 维特征（build_features）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时间：hour / dow / is_weekend / month / day_of_year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周期编码：hour_sin / hour_cos（平滑日周期）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滞后：load_lag_1/2/3/24/168（168=7天）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滚动：load_rollmean/std_24/168/336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共 19 列，dropna 后训练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486400" cy="448056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F59E0B"/>
                </a:solidFill>
                <a:latin typeface="Microsoft YaHei"/>
              </a:rPr>
              <a:t>短期预测（train_predictor）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目标：T+24h 短期负荷预测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主模型：LightGBM（本地开源库，非第三方 LLM）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降级：HistGradientBoosting → 纯 numpy Ridge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时序切分：前 80% 训练 / 后 20% 回测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不收敛：自动降采样 + 换模型 + 回退日志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验证指标：模型 vs 朴素基线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回测段 48 点：模型 MAE 2357 MW  比  基线 MAE 59839 MW  好 25.4 倍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96596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965960"/>
            <a:ext cx="5212080" cy="402336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 b="1">
                <a:solidFill>
                  <a:srgbClr val="16A34A"/>
                </a:solidFill>
                <a:latin typeface="Microsoft YaHei"/>
              </a:rPr>
              <a:t>指标口径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MAE = 2356.7 MW（模型） / 59838.9 MW（基线）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MAPE = 0.41%（模型）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基线：朴素“昨日同期”（同小时历史均值）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自适应通过线：1.25 × 干净工况 MAE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干净工况判“通过”，注入异常判“未通过”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预测曲线：模型 vs 实际（48h）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749807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21040" y="1554480"/>
            <a:ext cx="3291840" cy="448056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读图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0F172A"/>
                </a:solidFill>
                <a:latin typeface="Microsoft YaHei"/>
              </a:rPr>
              <a:t>48 小时滚动预测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0F172A"/>
                </a:solidFill>
                <a:latin typeface="Microsoft YaHei"/>
              </a:rPr>
              <a:t>模型贴合实际日周期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0F172A"/>
                </a:solidFill>
                <a:latin typeface="Microsoft YaHei"/>
              </a:rPr>
              <a:t>MAE 2357 MW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0F172A"/>
                </a:solidFill>
                <a:latin typeface="Microsoft YaHei"/>
              </a:rPr>
              <a:t>MAPE 0.41%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0F172A"/>
                </a:solidFill>
                <a:latin typeface="Microsoft YaHei"/>
              </a:rPr>
              <a:t>峰值/谷值时刻对齐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ANOMALY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异常处理矩阵（核心得分点）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657600"/>
                <a:gridCol w="22860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异常类型</a:t>
                      </a:r>
                    </a:p>
                  </a:txBody>
                  <a:tcPr anchor="ctr"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注入方式</a:t>
                      </a:r>
                    </a:p>
                  </a:txBody>
                  <a:tcPr anchor="ctr"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AGH 行为</a:t>
                      </a:r>
                    </a:p>
                  </a:txBody>
                  <a:tcPr anchor="ctr"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验证证据</a:t>
                      </a:r>
                    </a:p>
                  </a:txBody>
                  <a:tcPr anchor="ctr" marL="73152" marR="73152"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数据缺失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随机置空 5%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clean_df 标记+插补，记录插补率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插补前后对比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传感器跳变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注入 10 个 5σ 尖峰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detect_anomaly 捕获+归因“瞬时尖峰”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事件列表+位置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模型不收敛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截断训练样本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降采样 + 换模型（三级降级）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回退日志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回测不达标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阈值未过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verify_report 标红 + 触发重训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基线对照表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接口超时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模拟网络抖动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fetch_data 重试 3 次 + 降级缓存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重试日志</a:t>
                      </a:r>
                    </a:p>
                  </a:txBody>
                  <a:tcPr anchor="ctr" marL="73152" marR="7315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Microsoft YaHei"/>
              </a:rPr>
              <a:t>演示时主动触发至少 2 类异常（missing + spikes），证明 AGH 真实读反馈、走分支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RESULTS &amp; 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结果与一键复现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448056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16A34A"/>
                </a:solidFill>
                <a:latin typeface="Microsoft YaHei"/>
              </a:rPr>
              <a:t>验证结果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模型 MAE 2357 MW，比朴素基线好 25.4 倍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MAPE 0.41%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注入 10 个 5σ 尖峰 100% 捕获 + 归因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缺失 5% 检测 + 线性插补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干净工况判“通过”，注入异常判“未通过”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48056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一键复现（评委 5 分钟跑通）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python tools\fetch_eia_eba.py   # 真实数据入缓存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python run.py --demo             # 主路径+注入+出报告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python run.py --anomaly threshold # 重训分支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产物：reports/ HTML + validation/ CSV + runs/ 日志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INNOVATION &amp;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创新性与应用潜力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524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Grid Load Agent · AGH 电力负荷预测与异常检测闭环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64240" cy="192024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相对常规做法的差异化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全异常闭环：不止 happy path，五类异常分支 + 自动验证判定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三级模型降级：无 ML 包也能跑通，强调“可复现”而非“跑一次”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0F172A"/>
                </a:solidFill>
                <a:latin typeface="Microsoft YaHei"/>
              </a:rPr>
              <a:t>AGH 作为底座：工具注册 + 结构化计划 + 异常码驱动分支，而非把 AGH 当聊天框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2468880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16A34A"/>
                </a:solidFill>
                <a:latin typeface="Microsoft YaHei"/>
              </a:rPr>
              <a:t>应用潜力（可扩展方向）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接入 PJM / ISO 真实逐小时负荷，替换当前 EIA 代理序列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扩展 T+72h 中期预测 + 滚动重训 + 在线学习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异常归因升级：孤立森林 + 变点检测，定位“持续漂移 / 计划性检修”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Microsoft YaHei"/>
              </a:rPr>
              <a:t>对接电网调度 / 虚拟电厂场景，形成“预测-告警-建议”数字孪生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可执行 · 可验证 · 可复现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3C5FD"/>
                </a:solidFill>
                <a:latin typeface="Microsoft YaHei"/>
              </a:rPr>
              <a:t>Grid Load Agent — AGH 电力负荷预测与异常检测闭环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LLM 层仅调用 Agnes 模型 · 数值层用本地开源库 · 公开数据完成验证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  <a:latin typeface="Microsoft YaHei"/>
              </a:rPr>
              <a:t>一条命令复现：python run.py --demo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10515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